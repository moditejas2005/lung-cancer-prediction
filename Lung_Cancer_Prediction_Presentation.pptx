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1F4E79"/>
                </a:solidFill>
                <a:latin typeface="Calibri"/>
              </a:defRPr>
            </a:pPr>
            <a:r>
              <a:t>Lung Cancer Prediction Platform</a:t>
            </a:r>
          </a:p>
          <a:p>
            <a:pPr>
              <a:spcAft>
                <a:spcPts val="2400"/>
              </a:spcAft>
              <a:defRPr sz="2200">
                <a:solidFill>
                  <a:srgbClr val="2E75B6"/>
                </a:solidFill>
                <a:latin typeface="Calibri"/>
              </a:defRPr>
            </a:pPr>
            <a:r>
              <a:t>An Explainable and Clinically Validated Calibrated Ensemble Approach</a:t>
            </a:r>
          </a:p>
          <a:p>
            <a:pPr>
              <a:defRPr sz="1400">
                <a:solidFill>
                  <a:srgbClr val="7F7F7F"/>
                </a:solidFill>
                <a:latin typeface="Calibri"/>
              </a:defRPr>
            </a:pPr>
            <a:r>
              <a:t>College Demonstration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F4E79"/>
                </a:solidFill>
                <a:latin typeface="Calibri"/>
              </a:defRPr>
            </a:pPr>
            <a:r>
              <a:t>The Core Clinical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282828"/>
                </a:solidFill>
                <a:latin typeface="Calibri"/>
              </a:defRPr>
            </a:pPr>
            <a:r>
              <a:t>1. Medical Data Scarcity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Gathering real-world patient lung cancer records is difficult due to strict privacy rules (HIPAA/GDPR).</a:t>
            </a:r>
          </a:p>
          <a:p>
            <a:pPr>
              <a:spcAft>
                <a:spcPts val="1400"/>
              </a:spcAft>
              <a:defRPr sz="2200" b="0">
                <a:solidFill>
                  <a:srgbClr val="282828"/>
                </a:solidFill>
                <a:latin typeface="Calibri"/>
              </a:defRPr>
            </a:pPr>
            <a:r>
              <a:t>2. High Class Imbalance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Healthy patient records outnumber positive lung cancer cases, biasing standard model algorithms.</a:t>
            </a:r>
          </a:p>
          <a:p>
            <a:pPr>
              <a:spcAft>
                <a:spcPts val="1400"/>
              </a:spcAft>
              <a:defRPr sz="2200" b="0">
                <a:solidFill>
                  <a:srgbClr val="282828"/>
                </a:solidFill>
                <a:latin typeface="Calibri"/>
              </a:defRPr>
            </a:pPr>
            <a:r>
              <a:t>3. The 'Black Box' Barrier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Doctors reject standard AI predictions because they cannot explain *why* a patient is labeled high-risk.</a:t>
            </a:r>
          </a:p>
          <a:p>
            <a:pPr>
              <a:spcAft>
                <a:spcPts val="1400"/>
              </a:spcAft>
              <a:defRPr sz="2200" b="0">
                <a:solidFill>
                  <a:srgbClr val="282828"/>
                </a:solidFill>
                <a:latin typeface="Calibri"/>
              </a:defRPr>
            </a:pPr>
            <a:r>
              <a:t>4. Overconfident and Uncalibrated Risk Outputs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Traditional models give arbitrary probability outputs that do not represent true empirical clinical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F4E79"/>
                </a:solidFill>
                <a:latin typeface="Calibri"/>
              </a:defRPr>
            </a:pPr>
            <a:r>
              <a:t>System Architecture: Three Pillars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3291840" cy="4389120"/>
          </a:xfrm>
          <a:prstGeom prst="roundRect">
            <a:avLst/>
          </a:prstGeom>
          <a:solidFill>
            <a:srgbClr val="D9E1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2000" b="1">
                <a:solidFill>
                  <a:srgbClr val="1F4E79"/>
                </a:solidFill>
                <a:latin typeface="Calibri"/>
              </a:defRPr>
            </a:pPr>
            <a:r>
              <a:t>Pillar 1: Data Synthesis</a:t>
            </a:r>
          </a:p>
          <a:p>
            <a:pPr>
              <a:spcAft>
                <a:spcPts val="1800"/>
              </a:spcAft>
              <a:defRPr sz="1400" i="1">
                <a:solidFill>
                  <a:srgbClr val="505050"/>
                </a:solidFill>
                <a:latin typeface="Calibri"/>
              </a:defRPr>
            </a:pPr>
            <a:r>
              <a:t>Conditional Tabular GAN</a:t>
            </a:r>
          </a:p>
          <a:p>
            <a:pPr>
              <a:spcAft>
                <a:spcPts val="800"/>
              </a:spcAft>
              <a:defRPr sz="1300">
                <a:solidFill>
                  <a:srgbClr val="282828"/>
                </a:solidFill>
                <a:latin typeface="Calibri"/>
              </a:defRPr>
            </a:pPr>
            <a:r>
              <a:t>• Generates highly realistic synthetic patient records.</a:t>
            </a:r>
          </a:p>
          <a:p>
            <a:pPr>
              <a:spcAft>
                <a:spcPts val="800"/>
              </a:spcAft>
              <a:defRPr sz="1300">
                <a:solidFill>
                  <a:srgbClr val="282828"/>
                </a:solidFill>
                <a:latin typeface="Calibri"/>
              </a:defRPr>
            </a:pPr>
            <a:r>
              <a:t>• Learns complex joint probability distributions.</a:t>
            </a:r>
          </a:p>
          <a:p>
            <a:pPr>
              <a:spcAft>
                <a:spcPts val="800"/>
              </a:spcAft>
              <a:defRPr sz="1300">
                <a:solidFill>
                  <a:srgbClr val="282828"/>
                </a:solidFill>
                <a:latin typeface="Calibri"/>
              </a:defRPr>
            </a:pPr>
            <a:r>
              <a:t>• Solves scarcity &amp; maintains privacy.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645920"/>
            <a:ext cx="3291840" cy="4389120"/>
          </a:xfrm>
          <a:prstGeom prst="roundRect">
            <a:avLst/>
          </a:prstGeom>
          <a:solidFill>
            <a:srgbClr val="E2EFD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2000" b="1">
                <a:solidFill>
                  <a:srgbClr val="1F4E79"/>
                </a:solidFill>
                <a:latin typeface="Calibri"/>
              </a:defRPr>
            </a:pPr>
            <a:r>
              <a:t>Pillar 2: Validation Gates</a:t>
            </a:r>
          </a:p>
          <a:p>
            <a:pPr>
              <a:spcAft>
                <a:spcPts val="1800"/>
              </a:spcAft>
              <a:defRPr sz="1400" i="1">
                <a:solidFill>
                  <a:srgbClr val="505050"/>
                </a:solidFill>
                <a:latin typeface="Calibri"/>
              </a:defRPr>
            </a:pPr>
            <a:r>
              <a:t>Medical &amp; Statistical QA</a:t>
            </a:r>
          </a:p>
          <a:p>
            <a:pPr>
              <a:spcAft>
                <a:spcPts val="800"/>
              </a:spcAft>
              <a:defRPr sz="1300">
                <a:solidFill>
                  <a:srgbClr val="282828"/>
                </a:solidFill>
                <a:latin typeface="Calibri"/>
              </a:defRPr>
            </a:pPr>
            <a:r>
              <a:t>• Medical rule engine enforces physiological laws.</a:t>
            </a:r>
          </a:p>
          <a:p>
            <a:pPr>
              <a:spcAft>
                <a:spcPts val="800"/>
              </a:spcAft>
              <a:defRPr sz="1300">
                <a:solidFill>
                  <a:srgbClr val="282828"/>
                </a:solidFill>
                <a:latin typeface="Calibri"/>
              </a:defRPr>
            </a:pPr>
            <a:r>
              <a:t>• KS-Test &amp; Chi-Square check data quality.</a:t>
            </a:r>
          </a:p>
          <a:p>
            <a:pPr>
              <a:spcAft>
                <a:spcPts val="800"/>
              </a:spcAft>
              <a:defRPr sz="1300">
                <a:solidFill>
                  <a:srgbClr val="282828"/>
                </a:solidFill>
                <a:latin typeface="Calibri"/>
              </a:defRPr>
            </a:pPr>
            <a:r>
              <a:t>• PSI checks for data drift.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645920"/>
            <a:ext cx="3291840" cy="4389120"/>
          </a:xfrm>
          <a:prstGeom prst="roundRect">
            <a:avLst/>
          </a:prstGeom>
          <a:solidFill>
            <a:srgbClr val="FFF2C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2000" b="1">
                <a:solidFill>
                  <a:srgbClr val="1F4E79"/>
                </a:solidFill>
                <a:latin typeface="Calibri"/>
              </a:defRPr>
            </a:pPr>
            <a:r>
              <a:t>Pillar 3: Predict &amp; Explain</a:t>
            </a:r>
          </a:p>
          <a:p>
            <a:pPr>
              <a:spcAft>
                <a:spcPts val="1800"/>
              </a:spcAft>
              <a:defRPr sz="1400" i="1">
                <a:solidFill>
                  <a:srgbClr val="505050"/>
                </a:solidFill>
                <a:latin typeface="Calibri"/>
              </a:defRPr>
            </a:pPr>
            <a:r>
              <a:t>Ensemble &amp; SHAP (XAI)</a:t>
            </a:r>
          </a:p>
          <a:p>
            <a:pPr>
              <a:spcAft>
                <a:spcPts val="800"/>
              </a:spcAft>
              <a:defRPr sz="1300">
                <a:solidFill>
                  <a:srgbClr val="282828"/>
                </a:solidFill>
                <a:latin typeface="Calibri"/>
              </a:defRPr>
            </a:pPr>
            <a:r>
              <a:t>• 7-model stacking ensemble for robust risk prediction.</a:t>
            </a:r>
          </a:p>
          <a:p>
            <a:pPr>
              <a:spcAft>
                <a:spcPts val="800"/>
              </a:spcAft>
              <a:defRPr sz="1300">
                <a:solidFill>
                  <a:srgbClr val="282828"/>
                </a:solidFill>
                <a:latin typeface="Calibri"/>
              </a:defRPr>
            </a:pPr>
            <a:r>
              <a:t>• Probability calibration mapping raw scores to absolute risk.</a:t>
            </a:r>
          </a:p>
          <a:p>
            <a:pPr>
              <a:spcAft>
                <a:spcPts val="800"/>
              </a:spcAft>
              <a:defRPr sz="1300">
                <a:solidFill>
                  <a:srgbClr val="282828"/>
                </a:solidFill>
                <a:latin typeface="Calibri"/>
              </a:defRPr>
            </a:pPr>
            <a:r>
              <a:t>• SHAP explains specific risk factors.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F4E79"/>
                </a:solidFill>
                <a:latin typeface="Calibri"/>
              </a:defRPr>
            </a:pPr>
            <a:r>
              <a:t>Pillar 1: Deep Generative Data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282828"/>
                </a:solidFill>
                <a:latin typeface="Calibri"/>
              </a:defRPr>
            </a:pPr>
            <a:r>
              <a:t>What is CTGAN?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Conditional Tabular GAN (Generative Adversarial Network) designed for tabular dataset structures.</a:t>
            </a:r>
          </a:p>
          <a:p>
            <a:pPr>
              <a:spcAft>
                <a:spcPts val="1400"/>
              </a:spcAft>
              <a:defRPr sz="2200" b="0">
                <a:solidFill>
                  <a:srgbClr val="282828"/>
                </a:solidFill>
                <a:latin typeface="Calibri"/>
              </a:defRPr>
            </a:pPr>
            <a:r>
              <a:t>Generator vs. Discriminator Competition: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The Generator creates fake patient records, trying to fool the Discriminator.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The Discriminator learns to distinguish real patient data from synthetic data.</a:t>
            </a:r>
          </a:p>
          <a:p>
            <a:pPr>
              <a:spcAft>
                <a:spcPts val="1400"/>
              </a:spcAft>
              <a:defRPr sz="2200" b="0">
                <a:solidFill>
                  <a:srgbClr val="282828"/>
                </a:solidFill>
                <a:latin typeface="Calibri"/>
              </a:defRPr>
            </a:pPr>
            <a:r>
              <a:t>Conditional Masking &amp; Training: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CTGAN uses a conditional vector to force the generator to sample imbalanced features (like cancer positive status) evenly.</a:t>
            </a:r>
          </a:p>
          <a:p>
            <a:pPr>
              <a:spcAft>
                <a:spcPts val="1400"/>
              </a:spcAft>
              <a:defRPr sz="2200" b="0">
                <a:solidFill>
                  <a:srgbClr val="282828"/>
                </a:solidFill>
                <a:latin typeface="Calibri"/>
              </a:defRPr>
            </a:pPr>
            <a:r>
              <a:t>Rejection Sampling: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Generates sub-populations with consistent conditional fields (e.g. correct proportions of male/female smokers).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F4E79"/>
                </a:solidFill>
                <a:latin typeface="Calibri"/>
              </a:defRPr>
            </a:pPr>
            <a:r>
              <a:t>Pillar 2: Multi-Layer Validation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282828"/>
                </a:solidFill>
                <a:latin typeface="Calibri"/>
              </a:defRPr>
            </a:pPr>
            <a:r>
              <a:t>1. Medical Rule Engine (Physiological Validation)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Enforces clinical constraints on synthetic records.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Examples: If Smoking Status = 'Never', Years Smoked must be 0; BMI is clipped between 15 and 45; Blood oxygen must remain within 80-100%.</a:t>
            </a:r>
          </a:p>
          <a:p>
            <a:pPr>
              <a:spcAft>
                <a:spcPts val="1400"/>
              </a:spcAft>
              <a:defRPr sz="2200" b="0">
                <a:solidFill>
                  <a:srgbClr val="282828"/>
                </a:solidFill>
                <a:latin typeface="Calibri"/>
              </a:defRPr>
            </a:pPr>
            <a:r>
              <a:t>2. Statistical Distribution Matching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Kolmogorov-Smirnov (KS) Test: Validates continuous features match target distributions.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Chi-Square Test: Ensures categorical frequencies match baseline distributions.</a:t>
            </a:r>
          </a:p>
          <a:p>
            <a:pPr>
              <a:spcAft>
                <a:spcPts val="1400"/>
              </a:spcAft>
              <a:defRPr sz="2200" b="0">
                <a:solidFill>
                  <a:srgbClr val="282828"/>
                </a:solidFill>
                <a:latin typeface="Calibri"/>
              </a:defRPr>
            </a:pPr>
            <a:r>
              <a:t>3. Data Drift Monitoring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Population Stability Index (PSI): Ensures generated distributions do not shift from the baseline over time (Target PSI &lt; 0.1).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F4E79"/>
                </a:solidFill>
                <a:latin typeface="Calibri"/>
              </a:defRPr>
            </a:pPr>
            <a:r>
              <a:t>Pillar 3: Calibrated Stacking 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282828"/>
                </a:solidFill>
                <a:latin typeface="Calibri"/>
              </a:defRPr>
            </a:pPr>
            <a:r>
              <a:t>Base Learners (Level 0 Models):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We train multiple diverse algorithms: XGBoost, CatBoost, Random Forest, and Gradient Boosting.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Each model makes its own individual out-of-fold prediction probabilities.</a:t>
            </a:r>
          </a:p>
          <a:p>
            <a:pPr>
              <a:spcAft>
                <a:spcPts val="1400"/>
              </a:spcAft>
              <a:defRPr sz="2200" b="0">
                <a:solidFill>
                  <a:srgbClr val="282828"/>
                </a:solidFill>
                <a:latin typeface="Calibri"/>
              </a:defRPr>
            </a:pPr>
            <a:r>
              <a:t>Meta-Learner (Level 1 Model):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A Logistic Regression meta-classifier takes the prediction probabilities from Level 0 models as its features.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It learns how to optimally weight the strengths of each model to produce a final uncalibrated risk score.</a:t>
            </a:r>
          </a:p>
          <a:p>
            <a:pPr>
              <a:spcAft>
                <a:spcPts val="1400"/>
              </a:spcAft>
              <a:defRPr sz="2200" b="0">
                <a:solidFill>
                  <a:srgbClr val="282828"/>
                </a:solidFill>
                <a:latin typeface="Calibri"/>
              </a:defRPr>
            </a:pPr>
            <a:r>
              <a:t>Why Stacking?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It reduces model variance and prevents overfitting, creating a robust predictor that generalizes well to unseen patient cases.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F4E79"/>
                </a:solidFill>
                <a:latin typeface="Calibri"/>
              </a:defRPr>
            </a:pPr>
            <a:r>
              <a:t>Calibrated Stacking Ensemble Architecture</a:t>
            </a:r>
          </a:p>
          <a:p>
            <a:pPr>
              <a:defRPr sz="1800">
                <a:solidFill>
                  <a:srgbClr val="7F7F7F"/>
                </a:solidFill>
                <a:latin typeface="Calibri"/>
              </a:defRPr>
            </a:pPr>
            <a:r>
              <a:t>Flowchart Diagram of the Complete Prediction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718304" y="1188720"/>
            <a:ext cx="2743200" cy="457200"/>
          </a:xfrm>
          <a:prstGeom prst="rect">
            <a:avLst/>
          </a:prstGeom>
          <a:solidFill>
            <a:srgbClr val="E2EFDA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000000"/>
                </a:solidFill>
                <a:latin typeface="Calibri"/>
              </a:defRPr>
            </a:pPr>
            <a:r>
              <a:t>Input Patient Data</a:t>
            </a:r>
          </a:p>
        </p:txBody>
      </p:sp>
      <p:sp>
        <p:nvSpPr>
          <p:cNvPr id="4" name="Down Arrow 3"/>
          <p:cNvSpPr/>
          <p:nvPr/>
        </p:nvSpPr>
        <p:spPr>
          <a:xfrm>
            <a:off x="6016752" y="1691640"/>
            <a:ext cx="137160" cy="320040"/>
          </a:xfrm>
          <a:prstGeom prst="downArrow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0" y="2011680"/>
            <a:ext cx="8138160" cy="1188720"/>
          </a:xfrm>
          <a:prstGeom prst="rect">
            <a:avLst/>
          </a:prstGeom>
          <a:solidFill>
            <a:srgbClr val="FFFDE6"/>
          </a:solidFill>
          <a:ln>
            <a:solidFill>
              <a:srgbClr val="F0D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18304" y="20299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alibri"/>
              </a:defRPr>
            </a:pPr>
            <a:r>
              <a:t>Level 0 - Base Learners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377440"/>
            <a:ext cx="2011680" cy="640080"/>
          </a:xfrm>
          <a:prstGeom prst="rect">
            <a:avLst/>
          </a:prstGeom>
          <a:solidFill>
            <a:srgbClr val="D9E1F2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000000"/>
                </a:solidFill>
                <a:latin typeface="Calibri"/>
              </a:defRPr>
            </a:pPr>
            <a:r>
              <a:t>XGBoost Classifier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2377440"/>
            <a:ext cx="2011680" cy="640080"/>
          </a:xfrm>
          <a:prstGeom prst="rect">
            <a:avLst/>
          </a:prstGeom>
          <a:solidFill>
            <a:srgbClr val="D9E1F2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000000"/>
                </a:solidFill>
                <a:latin typeface="Calibri"/>
              </a:defRPr>
            </a:pPr>
            <a:r>
              <a:t>CatBoost Classifier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377440"/>
            <a:ext cx="2011680" cy="640080"/>
          </a:xfrm>
          <a:prstGeom prst="rect">
            <a:avLst/>
          </a:prstGeom>
          <a:solidFill>
            <a:srgbClr val="D9E1F2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000000"/>
                </a:solidFill>
                <a:latin typeface="Calibri"/>
              </a:defRPr>
            </a:pPr>
            <a:r>
              <a:t>Random Forest Classifier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200400" y="3200400"/>
            <a:ext cx="137160" cy="274320"/>
          </a:xfrm>
          <a:prstGeom prst="downArrow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6035040" y="3200400"/>
            <a:ext cx="137160" cy="274320"/>
          </a:xfrm>
          <a:prstGeom prst="downArrow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8686800" y="3200400"/>
            <a:ext cx="137160" cy="274320"/>
          </a:xfrm>
          <a:prstGeom prst="downArrow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34747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alibri"/>
              </a:defRPr>
            </a:pPr>
            <a:r>
              <a:t>Probabilities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4747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alibri"/>
              </a:defRPr>
            </a:pPr>
            <a:r>
              <a:t>Probabilities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4747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alibri"/>
              </a:defRPr>
            </a:pPr>
            <a:r>
              <a:t>Probabilities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6704" y="3749039"/>
            <a:ext cx="5486400" cy="914400"/>
          </a:xfrm>
          <a:prstGeom prst="rect">
            <a:avLst/>
          </a:prstGeom>
          <a:solidFill>
            <a:srgbClr val="FFFDE6"/>
          </a:solidFill>
          <a:ln>
            <a:solidFill>
              <a:srgbClr val="F0D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8304" y="37673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alibri"/>
              </a:defRPr>
            </a:pPr>
            <a:r>
              <a:t>Level 1 - Meta Learner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18304" y="4069080"/>
            <a:ext cx="2743200" cy="457200"/>
          </a:xfrm>
          <a:prstGeom prst="rect">
            <a:avLst/>
          </a:prstGeom>
          <a:solidFill>
            <a:srgbClr val="E2EFD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000000"/>
                </a:solidFill>
                <a:latin typeface="Calibri"/>
              </a:defRPr>
            </a:pPr>
            <a:r>
              <a:t>Logistic Regression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016752" y="4709160"/>
            <a:ext cx="137160" cy="274320"/>
          </a:xfrm>
          <a:prstGeom prst="downArrow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8304" y="4983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alibri"/>
              </a:defRPr>
            </a:pPr>
            <a:r>
              <a:t>Uncalibrated Probabilities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9504" y="5257800"/>
            <a:ext cx="2926080" cy="594360"/>
          </a:xfrm>
          <a:prstGeom prst="rect">
            <a:avLst/>
          </a:prstGeom>
          <a:solidFill>
            <a:srgbClr val="FFF2CC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000000"/>
                </a:solidFill>
                <a:latin typeface="Calibri"/>
              </a:defRPr>
            </a:pPr>
            <a:r>
              <a:t>Isotonic Regression Calibrator</a:t>
            </a:r>
            <a:br/>
            <a:r>
              <a:t>(Probability Calibration)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16752" y="5532120"/>
            <a:ext cx="1371600" cy="137160"/>
          </a:xfrm>
          <a:prstGeom prst="rightArrow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52944" y="5257800"/>
            <a:ext cx="2926080" cy="594360"/>
          </a:xfrm>
          <a:prstGeom prst="rect">
            <a:avLst/>
          </a:prstGeom>
          <a:solidFill>
            <a:srgbClr val="FFF2CC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000000"/>
                </a:solidFill>
                <a:latin typeface="Calibri"/>
              </a:defRPr>
            </a:pPr>
            <a:r>
              <a:t>Threshold Safety Optimizer</a:t>
            </a:r>
            <a:br/>
            <a:r>
              <a:t>(Decision Cutoff for 95% Recall)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9015984" y="5897880"/>
            <a:ext cx="137160" cy="365760"/>
          </a:xfrm>
          <a:prstGeom prst="downArrow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52944" y="6309360"/>
            <a:ext cx="2926080" cy="457200"/>
          </a:xfrm>
          <a:prstGeom prst="rect">
            <a:avLst/>
          </a:prstGeom>
          <a:solidFill>
            <a:srgbClr val="E2EFDA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000000"/>
                </a:solidFill>
                <a:latin typeface="Calibri"/>
              </a:defRPr>
            </a:pPr>
            <a:r>
              <a:t>Final Patient Risk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F4E79"/>
                </a:solidFill>
                <a:latin typeface="Calibri"/>
              </a:defRPr>
            </a:pPr>
            <a:r>
              <a:t>Probability Calibration &amp; Safety Thresholds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282828"/>
                </a:solidFill>
                <a:latin typeface="Calibri"/>
              </a:defRPr>
            </a:pPr>
            <a:r>
              <a:t>Why Calibrate Prediction Scores?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Raw machine learning probabilities are frequently skewed and uncalibrated.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Isotonic Regression maps the raw stack outputs to true empirical percentages.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If the model predicts an 85% risk, exactly 85% of such patients have lung cancer.</a:t>
            </a:r>
          </a:p>
          <a:p>
            <a:pPr>
              <a:spcAft>
                <a:spcPts val="1400"/>
              </a:spcAft>
              <a:defRPr sz="2200" b="0">
                <a:solidFill>
                  <a:srgbClr val="282828"/>
                </a:solidFill>
                <a:latin typeface="Calibri"/>
              </a:defRPr>
            </a:pPr>
            <a:r>
              <a:t>Optimizing the Decision Cutoff: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The standard classification threshold is 0.50.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In medicine, false negatives are fatal. We must prioritize finding all actual cancer cases.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We optimize the decision boundary (typically shifting to 0.30 - 0.35) to guarantee at least **95% Recall (Sensitivity)**.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This ensures only a minimal percentage of positive cases are missed by the platform.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F4E79"/>
                </a:solidFill>
                <a:latin typeface="Calibri"/>
              </a:defRPr>
            </a:pPr>
            <a:r>
              <a:t>Clinical Explainability via SHAP (XAI)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282828"/>
                </a:solidFill>
                <a:latin typeface="Calibri"/>
              </a:defRPr>
            </a:pPr>
            <a:r>
              <a:t>Demystifying the Prediction: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Instead of giving a single number, the system utilizes **SHAP (SHapley Additive exPlanations)**.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SHAP values are derived from game theory, computing the exact marginal contribution of each patient feature.</a:t>
            </a:r>
          </a:p>
          <a:p>
            <a:pPr>
              <a:spcAft>
                <a:spcPts val="1400"/>
              </a:spcAft>
              <a:defRPr sz="2200" b="0">
                <a:solidFill>
                  <a:srgbClr val="282828"/>
                </a:solidFill>
                <a:latin typeface="Calibri"/>
              </a:defRPr>
            </a:pPr>
            <a:r>
              <a:t>Local Explanations (Patient-Level):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Doctors can see exactly which factors pushed the patient's risk score higher or lower.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Explanations are translated to simple clinical categories: 'Significantly Elevated Risk', 'Moderately Elevated Risk', or 'Protective Factor'.</a:t>
            </a:r>
          </a:p>
          <a:p>
            <a:pPr>
              <a:spcAft>
                <a:spcPts val="1400"/>
              </a:spcAft>
              <a:defRPr sz="2200" b="0">
                <a:solidFill>
                  <a:srgbClr val="282828"/>
                </a:solidFill>
                <a:latin typeface="Calibri"/>
              </a:defRPr>
            </a:pPr>
            <a:r>
              <a:t>Example Output: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*'Patient risk is 89.5%. Heaviest driver: Smoking history (+25% contribution), followed by high PM2.5 air exposure (+12% contribution).'*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This builds clinical trust and makes the model easily auditable by doctors.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F4E79"/>
                </a:solidFill>
                <a:latin typeface="Calibri"/>
              </a:defRPr>
            </a:pPr>
            <a:r>
              <a:t>Conclusion &amp; Project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282828"/>
                </a:solidFill>
                <a:latin typeface="Calibri"/>
              </a:defRPr>
            </a:pPr>
            <a:r>
              <a:t>✅ Solves Real-World Medical Constraints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CTGAN generates privacy-compliant synthetic records, while statistical tests ensure distribution match.</a:t>
            </a:r>
          </a:p>
          <a:p>
            <a:pPr>
              <a:spcAft>
                <a:spcPts val="1400"/>
              </a:spcAft>
              <a:defRPr sz="2200" b="0">
                <a:solidFill>
                  <a:srgbClr val="282828"/>
                </a:solidFill>
                <a:latin typeface="Calibri"/>
              </a:defRPr>
            </a:pPr>
            <a:r>
              <a:t>🩺 Clinical Validation &amp; Safety Gates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Medical rules prevent impossible records, while probability calibration ensures risk scores are reliable.</a:t>
            </a:r>
          </a:p>
          <a:p>
            <a:pPr>
              <a:spcAft>
                <a:spcPts val="1400"/>
              </a:spcAft>
              <a:defRPr sz="2200" b="0">
                <a:solidFill>
                  <a:srgbClr val="282828"/>
                </a:solidFill>
                <a:latin typeface="Calibri"/>
              </a:defRPr>
            </a:pPr>
            <a:r>
              <a:t>🔍 Full Transparency (Explainable AI)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Local explanations (SHAP) bridge the gap between machine learning and medical trust.</a:t>
            </a:r>
          </a:p>
          <a:p>
            <a:pPr>
              <a:spcAft>
                <a:spcPts val="1400"/>
              </a:spcAft>
              <a:defRPr sz="2200" b="0">
                <a:solidFill>
                  <a:srgbClr val="282828"/>
                </a:solidFill>
                <a:latin typeface="Calibri"/>
              </a:defRPr>
            </a:pPr>
            <a:r>
              <a:t>📈 State-of-the-Art Architecture</a:t>
            </a:r>
          </a:p>
          <a:p>
            <a:pPr lvl="1">
              <a:spcAft>
                <a:spcPts val="14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Combining modern generative models, statistical QA pipelines, stacking ensembles, and game-theoretic explainers.</a:t>
            </a:r>
          </a:p>
          <a:p>
            <a:pPr>
              <a:spcAft>
                <a:spcPts val="1400"/>
              </a:spcAft>
              <a:defRPr sz="2200" b="0">
                <a:solidFill>
                  <a:srgbClr val="282828"/>
                </a:solidFill>
                <a:latin typeface="Calibri"/>
              </a:defRPr>
            </a:pPr>
            <a:r>
              <a:t>🎓 Perfect for Demo and Clinical Presentation!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